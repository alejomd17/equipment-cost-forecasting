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B28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2B2B28"/>
                </a:solidFill>
                <a:latin typeface="Cambria"/>
              </a:rPr>
              <a:t>Error promedio de las tres series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 a 3 meses (%)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B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Naive</c:v>
                  </c:pt>
                  <c:pt idx="1">
                    <c:v>Drift</c:v>
                  </c:pt>
                  <c:pt idx="2">
                    <c:v>ARIMA</c:v>
                  </c:pt>
                  <c:pt idx="3">
                    <c:v>SARIMA</c:v>
                  </c:pt>
                  <c:pt idx="4">
                    <c:v>ETS</c:v>
                  </c:pt>
                  <c:pt idx="5">
                    <c:v>LightGBM</c:v>
                  </c:pt>
                  <c:pt idx="6">
                    <c:v>Prophet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6.13</c:v>
                </c:pt>
                <c:pt idx="1">
                  <c:v>6.2</c:v>
                </c:pt>
                <c:pt idx="2">
                  <c:v>6.25</c:v>
                </c:pt>
                <c:pt idx="3">
                  <c:v>6.76</c:v>
                </c:pt>
                <c:pt idx="4">
                  <c:v>6.76</c:v>
                </c:pt>
                <c:pt idx="5">
                  <c:v>12.46</c:v>
                </c:pt>
                <c:pt idx="6">
                  <c:v>22.41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B2B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"/>
          <c:min val="0"/>
        </c:scaling>
        <c:delete val="0"/>
        <c:axPos val="b"/>
        <c:majorGridlines>
          <c:spPr>
            <a:ln w="12700" cap="flat">
              <a:solidFill>
                <a:srgbClr val="E7E8D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A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B28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2B2B28"/>
                </a:solidFill>
                <a:latin typeface="Cambria"/>
              </a:rPr>
              <a:t>Amplitud relativa del intervalo de confianza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Equipo 1</c:v>
                </c:pt>
              </c:strCache>
            </c:strRef>
          </c:tx>
          <c:spPr>
            <a:solidFill>
              <a:srgbClr val="B85042"/>
            </a:solidFill>
            <a:ln w="38100" cap="flat">
              <a:solidFill>
                <a:srgbClr val="B850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Mes 1</c:v>
                  </c:pt>
                  <c:pt idx="1">
                    <c:v>Mes 2</c:v>
                  </c:pt>
                  <c:pt idx="2">
                    <c:v>Mes 3</c:v>
                  </c:pt>
                  <c:pt idx="3">
                    <c:v>Mes 4</c:v>
                  </c:pt>
                  <c:pt idx="4">
                    <c:v>Mes 5</c:v>
                  </c:pt>
                  <c:pt idx="5">
                    <c:v>Mes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13.8</c:v>
                </c:pt>
                <c:pt idx="1">
                  <c:v>17.7</c:v>
                </c:pt>
                <c:pt idx="2">
                  <c:v>40.3</c:v>
                </c:pt>
                <c:pt idx="3">
                  <c:v>54.6</c:v>
                </c:pt>
                <c:pt idx="4">
                  <c:v>50.2</c:v>
                </c:pt>
                <c:pt idx="5">
                  <c:v>63.6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Equipo 2</c:v>
                </c:pt>
              </c:strCache>
            </c:strRef>
          </c:tx>
          <c:spPr>
            <a:solidFill>
              <a:srgbClr val="A7BEAE"/>
            </a:solidFill>
            <a:ln w="38100" cap="flat">
              <a:solidFill>
                <a:srgbClr val="A7BEA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7BEAE"/>
              </a:solidFill>
              <a:ln w="9525" cap="flat">
                <a:solidFill>
                  <a:srgbClr val="A7BEA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Mes 1</c:v>
                  </c:pt>
                  <c:pt idx="1">
                    <c:v>Mes 2</c:v>
                  </c:pt>
                  <c:pt idx="2">
                    <c:v>Mes 3</c:v>
                  </c:pt>
                  <c:pt idx="3">
                    <c:v>Mes 4</c:v>
                  </c:pt>
                  <c:pt idx="4">
                    <c:v>Mes 5</c:v>
                  </c:pt>
                  <c:pt idx="5">
                    <c:v>Mes 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14.4</c:v>
                </c:pt>
                <c:pt idx="1">
                  <c:v>16.6</c:v>
                </c:pt>
                <c:pt idx="2">
                  <c:v>18.8</c:v>
                </c:pt>
                <c:pt idx="3">
                  <c:v>26.5</c:v>
                </c:pt>
                <c:pt idx="4">
                  <c:v>31.5</c:v>
                </c:pt>
                <c:pt idx="5">
                  <c:v>37.1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8D1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A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2B2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Prueba técnica: caso de gestión de costos operativos en un proyecto de construcción.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ADF: X, Z y Equipo 1 con raíz unitaria. Cointegración significativa solo en Equipo1-Y (p=0.013) y Equipo2-Z (p=0.010).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intervalos de confianza al 95% contienen 0.20, 0.80 y un tercio. Los interceptos no son significativos.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Ganadores: X naive (MAPE 7.85%), Y ARIMA (6.15%), Z SARIMA (3.53%). Prophet queda último en las tres series.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4937760" cy="49377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49840" y="4206240"/>
            <a:ext cx="3108960" cy="310896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Pronóstico de costos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equipos de construcción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insumos determinantes, proyección con intervalos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agente conversacional sobre los resultados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011680" cy="0"/>
          </a:xfrm>
          <a:prstGeom prst="line">
            <a:avLst/>
          </a:prstGeom>
          <a:noFill/>
          <a:ln w="381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Alejandro Moscoso Deossa  ·  Septiembre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encargo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constructora con desviaciones presupuestales recurrentes en la compra de dos equipos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BFAF6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48840"/>
            <a:ext cx="658368" cy="65836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17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explica el costo?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52044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qué insumos determinan el precio de cada equipo y cuáles son ruido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BFAF6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148840"/>
            <a:ext cx="658368" cy="65836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017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va a costar?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52044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Proyectar hacia adelante con incertidumbre explícita y horizonte justificado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BFAF6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148840"/>
            <a:ext cx="658368" cy="65836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017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se consulta?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52044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Exponer los hallazgos en un agente que combine análisis interno y mercado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tres series diarias de materias primas anonimizadas (X, Y, Z) y el precio de adquisición de los dos equipos. Enero 2010 a agosto 2023, 3.530 registros.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abordó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antes de estimar: el camino corto lleva a una conclusión equivocada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BFAF6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48840"/>
            <a:ext cx="566928" cy="5669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2402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80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en niveles y en retornos,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ver qué se mueve junto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42232" y="2715768"/>
            <a:ext cx="164592" cy="237744"/>
          </a:xfrm>
          <a:prstGeom prst="rightArrow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9202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BFAF6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148840"/>
            <a:ext cx="566928" cy="5669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22402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880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y cointegración: comprobar que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relación no sea espuria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45552" y="2715768"/>
            <a:ext cx="164592" cy="237744"/>
          </a:xfrm>
          <a:prstGeom prst="rightArrow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9202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BFAF6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2148840"/>
            <a:ext cx="566928" cy="5669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22402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Estimar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880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múltiple con las tres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materias primas en conjunto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11480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F5EFE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" y="42519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no ir directo a la regresión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4681728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series de precios no son estacionarias, y entre dos series así una regresión puede salir significativa por puro azar (Granger y Newbold, 1974). Verificar cointegración es lo que permite modelar los precios directamente: solo los pares Equipo 1 con Y y Equipo 2 con Z mostraron una relación estable de largo plazo.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B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hallazgo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relación no es estadística aproximada: es exacta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3A3A35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1488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0604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 · X  +  0.8 · Y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2918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 la fórmula: 0.30%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3A3A35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21488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60604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X + Y + Z ) / 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32918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 la fórmula: 0.25%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297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Implicación metodológica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709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 falta un modelo predictivo de la relación insumo-equipo. Toda la incertidumbre del costo proviene de proyectar X, Y y Z.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303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correlación bivariada señalaba a X como ruido. Solo la regresión múltiple mostró que participa en ambos equipos: la volatilidad propia de X la hace parecer ruido cuando se mide de a pares.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son las materias primas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perfil de X sugería un commodity energético; se verificó contra referencias públicas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5486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18872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de retornos mensuales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92240" y="1874520"/>
            <a:ext cx="5029200" cy="2514600"/>
          </a:xfrm>
          <a:prstGeom prst="roundRect">
            <a:avLst>
              <a:gd name="adj" fmla="val 2909"/>
            </a:avLst>
          </a:prstGeom>
          <a:solidFill>
            <a:srgbClr val="F5EFE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12280" y="2103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es el petróleo Brent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6812280" y="260604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de 1.00 en niveles y en retornos. No es una serie parecida: es la misma.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y Z no admiten identificación concluyente. Sus correlaciones apuntan a metales industriales, pero ninguna alcanza para afirmarlo.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92240" y="4572000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FBFAF6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12280" y="4572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Consecuencia práctica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812280" y="49377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pesa 20% en el Equipo 1 y 33% en el Equipo 2. El agente puede cruzar el pronóstico con noticias reales del mercado de crudo.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del modelo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candidatos, nueve ventanas de backtest, tres métricas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55778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58368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tres métricas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2286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226771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directa en términos de negocio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313639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 los errores grandes, que son los que rompen un presupuesto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4023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400507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contra el método ingenuo y permite comparar series de magnitudes distintas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0" y="493776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5EFE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0" y="510235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cambia de modelo solo si mejora el MASE del naive en al menos 5% y lidera dos de las tres métricas. Si no, se conserva el ingenuo.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Proyección de costos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e intervalo al 90%, construido por bootstrap de los errores del backtest</a:t>
            </a:r>
            <a:endParaRPr lang="en-US" sz="1400" dirty="0"/>
          </a:p>
        </p:txBody>
      </p:sp>
      <p:pic>
        <p:nvPicPr>
          <p:cNvPr id="4" name="Image 0" descr="figures/pronostico_equip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694944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09560" y="182880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BFAF6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83880" y="1938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1  ·  sep 2023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221284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458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9509760" y="2331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[416 – 479]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909560" y="320040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BFAF6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83880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2  ·  sep 2023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358444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930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9509760" y="3703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[859 – 995]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909560" y="4572000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F5EFE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83880" y="4709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Equipo 2 es más predecible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501091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Promedia tres insumos y diversifica. El Equipo 1 concentra 80% en una sola serie.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Horizonte de predicción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meses, y la razón está en cómo se abre el intervalo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66751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8096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deja de servir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37744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del cuarto mes el límite inferior y el superior del intervalo implican decisiones de compra distintas. El rango deja de ser una guía y pasa a ser una incógnita.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escenario de seis meses se reporta como referencia de tendencia, no como base presupuestal.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0" y="448056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5EFE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46177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9144000" y="47091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 del intervalo del Equipo 1 al tercer mes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2B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pronóstico a la decisión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que consulta los artefactos del análisis, nunca su propia memoria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3A3A35"/>
          </a:solidFill>
          <a:ln w="12700">
            <a:solidFill>
              <a:srgbClr val="4A4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Autonomía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3172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qué herramientas usar y en qué orden, sin reglas programadas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3A3A35"/>
          </a:solidFill>
          <a:ln w="12700">
            <a:solidFill>
              <a:srgbClr val="4A4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975104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33172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pronóstico, simula shocks, presupuesta compras, evalúa cotizaciones, busca en la web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3A3A35"/>
          </a:solidFill>
          <a:ln w="12700">
            <a:solidFill>
              <a:srgbClr val="4A4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392424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Memoria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4904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persiste entre turnos, así que una pregunta puede referirse a la anterior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324612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3A3A35"/>
          </a:solidFill>
          <a:ln w="12700">
            <a:solidFill>
              <a:srgbClr val="4A4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3392424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Acción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74904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operaciones reales. El modelo solo expresa la intención y el código la ejecuta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8006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ReAct (Yao et al., 2022) sobre LangGraph con Gemini. En un sistema convencional la secuencia la define el programador: entra una serie, sale una proyección, termina. En un agente la define el propio sistema a partir del objetivo, lo que le permite responder preguntas que nadie anticipó.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agente en uso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cotización de proveedor contrastada contra el rango proyectado</a:t>
            </a:r>
            <a:endParaRPr lang="en-US" sz="1400" dirty="0"/>
          </a:p>
        </p:txBody>
      </p:sp>
      <p:pic>
        <p:nvPicPr>
          <p:cNvPr id="4" name="Image 0" descr="figures/agente_cotizacion_recor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7498080" cy="44074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458200" y="18288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hace aquí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458200" y="221284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precio ofertado, lo compara con el intervalo del mes correspondiente y concluye que supera incluso el percentil 95.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3566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importa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39502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queda en el veredicto: señala el margen de renegociación y qué condiciones comerciales justificarían el sobreprecio.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458200" y="5212080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F5EFE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0" y="537667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herramienta responde esta pregunta por sí sola. El agente arma la secuencia.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implementado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de etapas independientes, cada una dejando artefactos que la siguiente consume</a:t>
            </a:r>
            <a:endParaRPr lang="en-US" sz="1400" dirty="0"/>
          </a:p>
        </p:txBody>
      </p:sp>
      <p:pic>
        <p:nvPicPr>
          <p:cNvPr id="4" name="Image 0" descr="docs/arquitectura_lo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600200"/>
            <a:ext cx="4206240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en un comando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all encadena ingesta, selección de modelo y pronóstico. Cada etapa corre también por separado con uv run.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429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Artefactos versionados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7947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histórico procesado, la selección de modelo y los pronósticos quedan en el repositorio, de modo que el resultado es auditable sin reejecutar nada.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agente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21945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grafo decide si consulta la rama interna, que lee los artefactos, o la externa, que busca en la web, y mantiene el estado de la conversación.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3611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Empaquetado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39776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Dockerfile resuelve las dependencias de sistema y levanta el agente sin instalar nada en la máquina del usuario.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escalaría en Azure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imagen que corre en local es la que se despliega, con dos configuraciones según el volumen</a:t>
            </a:r>
            <a:endParaRPr lang="en-US" sz="1400" dirty="0"/>
          </a:p>
        </p:txBody>
      </p:sp>
      <p:pic>
        <p:nvPicPr>
          <p:cNvPr id="4" name="Image 0" descr="docs/arquitectura_az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600200"/>
            <a:ext cx="5029200" cy="4892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Escenario actual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1945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Factory orquesta, Blob Storage almacena y Azure Functions ejecuta el pipeline desde una imagen Docker.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crece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7490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 Gen2 con Delta Lake y Databricks para volumen. Azure ML con MLflow si aparecen modelos costosos de entrenar.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869680" y="1828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Consumo del agente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869680" y="21945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producto propio con Streamlit o FastAPI más Next.js, o embebido en un portal existente exponiendo solo la API.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869680" y="3474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869680" y="38404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como checkpointer persistente, Key Vault para credenciales y Application Insights para observabilidad.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2B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846320"/>
            <a:ext cx="3291840" cy="32918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queda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38528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82880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mecanismo reproducible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2677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 en un comando, con artefactos versionados y contenedor listo para desplegar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172968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30632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desviación presupuestal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50215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Intervalos honestos y un horizonte justificado por la evidencia, no por conveniencia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407408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34440" y="429768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base para evaluar proveedores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73659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cotización se contrasta contra el rango proyectado del mes correspondiente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715000"/>
            <a:ext cx="2011680" cy="0"/>
          </a:xfrm>
          <a:prstGeom prst="line">
            <a:avLst/>
          </a:prstGeom>
          <a:noFill/>
          <a:ln w="381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Repositorio, informe y agente ejecutable en github.com/alejomd17/equipment-cost-forecasting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Pronóstico de costos de equipos de construcción</dc:title>
  <dc:subject>PptxGenJS Presentation</dc:subject>
  <dc:creator>Alejandro Moscoso Deossa</dc:creator>
  <cp:lastModifiedBy>Alejandro Moscoso Deossa</cp:lastModifiedBy>
  <cp:revision>1</cp:revision>
  <dcterms:created xsi:type="dcterms:W3CDTF">2026-09-13T16:30:55Z</dcterms:created>
  <dcterms:modified xsi:type="dcterms:W3CDTF">2026-09-13T16:30:55Z</dcterms:modified>
</cp:coreProperties>
</file>